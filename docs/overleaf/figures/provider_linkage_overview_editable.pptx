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48872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rial"/>
              </a:rPr>
              <a:t>From Unidentified Requests to Longitudinal Linkage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48872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50" b="0">
                <a:solidFill>
                  <a:srgbClr val="5B6670"/>
                </a:solidFill>
                <a:latin typeface="Arial"/>
              </a:rPr>
              <a:t>Read left to right: observe what remains, reconstruct hidden groups, then follow them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292608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5B6670"/>
                </a:solidFill>
                <a:latin typeface="Arial"/>
              </a:rPr>
              <a:t>1  PROVIDER VIEW + PAIRED MEASUREMENT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22529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438912" cy="283464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05256" y="1490472"/>
            <a:ext cx="237744" cy="0"/>
          </a:xfrm>
          <a:prstGeom prst="line">
            <a:avLst/>
          </a:prstGeom>
          <a:ln w="1524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57200" y="1627632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911095"/>
            <a:ext cx="438912" cy="283464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05256" y="1892807"/>
            <a:ext cx="237744" cy="0"/>
          </a:xfrm>
          <a:prstGeom prst="line">
            <a:avLst/>
          </a:prstGeom>
          <a:ln w="15240">
            <a:solidFill>
              <a:srgbClr val="2A9D8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7200" y="202996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313432"/>
            <a:ext cx="438912" cy="283464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05256" y="2295144"/>
            <a:ext cx="237744" cy="0"/>
          </a:xfrm>
          <a:prstGeom prst="line">
            <a:avLst/>
          </a:prstGeom>
          <a:ln w="15240">
            <a:solidFill>
              <a:srgbClr val="D99B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70432" y="1280160"/>
            <a:ext cx="1097280" cy="1143000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1371600"/>
            <a:ext cx="91440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17212B"/>
                </a:solidFill>
                <a:latin typeface="Arial"/>
              </a:rPr>
              <a:t>Broker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35024" y="1901952"/>
            <a:ext cx="749808" cy="256032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17212B"/>
                </a:solidFill>
                <a:latin typeface="Arial"/>
              </a:rPr>
              <a:t>IDs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408176" y="1938528"/>
            <a:ext cx="603504" cy="182880"/>
          </a:xfrm>
          <a:prstGeom prst="line">
            <a:avLst/>
          </a:prstGeom>
          <a:ln w="19050">
            <a:solidFill>
              <a:srgbClr val="C653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04288" y="1847088"/>
            <a:ext cx="301752" cy="0"/>
          </a:xfrm>
          <a:prstGeom prst="line">
            <a:avLst/>
          </a:prstGeom>
          <a:ln w="1778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5184" y="1389888"/>
            <a:ext cx="932688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1488" y="1591056"/>
            <a:ext cx="634227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61488" y="1746504"/>
            <a:ext cx="764804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61488" y="1901952"/>
            <a:ext cx="522305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200400" y="1545336"/>
            <a:ext cx="164592" cy="164592"/>
          </a:xfrm>
          <a:prstGeom prst="diamond">
            <a:avLst/>
          </a:prstGeom>
          <a:solidFill>
            <a:srgbClr val="FBF2DF"/>
          </a:solidFill>
          <a:ln w="1143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34056" y="1508760"/>
            <a:ext cx="932688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1709928"/>
            <a:ext cx="634227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80360" y="1865376"/>
            <a:ext cx="764804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80360" y="2020824"/>
            <a:ext cx="522305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319272" y="1664207"/>
            <a:ext cx="164592" cy="164592"/>
          </a:xfrm>
          <a:prstGeom prst="diamond">
            <a:avLst/>
          </a:prstGeom>
          <a:solidFill>
            <a:srgbClr val="FBF2DF"/>
          </a:solidFill>
          <a:ln w="1143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52928" y="1627632"/>
            <a:ext cx="932688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9232" y="1828800"/>
            <a:ext cx="634227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99232" y="1984248"/>
            <a:ext cx="764804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99232" y="2139696"/>
            <a:ext cx="522305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3438144" y="1783080"/>
            <a:ext cx="164592" cy="164592"/>
          </a:xfrm>
          <a:prstGeom prst="diamond">
            <a:avLst/>
          </a:prstGeom>
          <a:solidFill>
            <a:srgbClr val="FBF2DF"/>
          </a:solidFill>
          <a:ln w="1143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32304" y="2221992"/>
            <a:ext cx="1609344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50" b="1">
                <a:solidFill>
                  <a:srgbClr val="2A9D8F"/>
                </a:solidFill>
                <a:latin typeface="Arial"/>
              </a:rPr>
              <a:t>IDs disappear;
content repeats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77056" y="1847088"/>
            <a:ext cx="310896" cy="0"/>
          </a:xfrm>
          <a:prstGeom prst="line">
            <a:avLst/>
          </a:prstGeom>
          <a:ln w="17780">
            <a:solidFill>
              <a:srgbClr val="5B66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224528" y="1188720"/>
            <a:ext cx="2971800" cy="1353312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1252728"/>
            <a:ext cx="1069848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D99B2B"/>
                </a:solidFill>
                <a:latin typeface="Arial"/>
              </a:rPr>
              <a:t>Original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62272" y="1572768"/>
            <a:ext cx="71323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08576" y="1773936"/>
            <a:ext cx="484997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08576" y="1929384"/>
            <a:ext cx="584850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08576" y="2084832"/>
            <a:ext cx="399409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iamond 41"/>
          <p:cNvSpPr/>
          <p:nvPr/>
        </p:nvSpPr>
        <p:spPr>
          <a:xfrm>
            <a:off x="4828032" y="1728216"/>
            <a:ext cx="164592" cy="164592"/>
          </a:xfrm>
          <a:prstGeom prst="diamond">
            <a:avLst/>
          </a:prstGeom>
          <a:solidFill>
            <a:srgbClr val="FBF2DF"/>
          </a:solidFill>
          <a:ln w="1143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9512" y="1682496"/>
            <a:ext cx="27432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D99B2B"/>
                </a:solidFill>
                <a:latin typeface="Arial"/>
              </a:rPr>
              <a:t>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59552" y="1572768"/>
            <a:ext cx="71323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05856" y="1773936"/>
            <a:ext cx="484997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05856" y="1929384"/>
            <a:ext cx="584850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05856" y="2084832"/>
            <a:ext cx="399409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3832" y="1252728"/>
            <a:ext cx="146304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D99B2B"/>
                </a:solidFill>
                <a:latin typeface="Arial"/>
              </a:rPr>
              <a:t>Paired intervention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6552" y="2212848"/>
            <a:ext cx="768096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7212B"/>
                </a:solidFill>
                <a:latin typeface="Arial"/>
              </a:rPr>
              <a:t>handles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57800" y="2212848"/>
            <a:ext cx="768096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7212B"/>
                </a:solidFill>
                <a:latin typeface="Arial"/>
              </a:rPr>
              <a:t>replay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9048" y="2212848"/>
            <a:ext cx="768096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7212B"/>
                </a:solidFill>
                <a:latin typeface="Arial"/>
              </a:rPr>
              <a:t>timing / collision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242048" y="1847088"/>
            <a:ext cx="283464" cy="0"/>
          </a:xfrm>
          <a:prstGeom prst="line">
            <a:avLst/>
          </a:prstGeom>
          <a:ln w="17780">
            <a:solidFill>
              <a:srgbClr val="5B66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71231" y="1271016"/>
            <a:ext cx="1225296" cy="1078992"/>
          </a:xfrm>
          <a:prstGeom prst="roundRect">
            <a:avLst/>
          </a:prstGeom>
          <a:solidFill>
            <a:srgbClr val="F9EAEA"/>
          </a:solidFill>
          <a:ln w="15240">
            <a:solidFill>
              <a:srgbClr val="C6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50" b="1">
                <a:solidFill>
                  <a:srgbClr val="17212B"/>
                </a:solidFill>
                <a:latin typeface="Arial"/>
              </a:rPr>
              <a:t>Run the same
CARP / ASL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833104" y="1847088"/>
            <a:ext cx="310896" cy="0"/>
          </a:xfrm>
          <a:prstGeom prst="line">
            <a:avLst/>
          </a:prstGeom>
          <a:ln w="17780">
            <a:solidFill>
              <a:srgbClr val="5B66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189720" y="1225296"/>
            <a:ext cx="2313432" cy="1170432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17212B"/>
                </a:solidFill>
                <a:latin typeface="Arial"/>
              </a:rPr>
              <a:t>Did linkage drop?
Identify the signal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45168" y="2414016"/>
            <a:ext cx="1444752" cy="374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535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7212B"/>
                </a:solidFill>
                <a:latin typeface="Arial"/>
              </a:rPr>
              <a:t>sealed truth: scoring only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0076688" y="2386584"/>
            <a:ext cx="256032" cy="18288"/>
          </a:xfrm>
          <a:prstGeom prst="line">
            <a:avLst/>
          </a:prstGeom>
          <a:ln w="15240">
            <a:solidFill>
              <a:srgbClr val="C6535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20040" y="2926080"/>
            <a:ext cx="11548872" cy="0"/>
          </a:xfrm>
          <a:prstGeom prst="line">
            <a:avLst/>
          </a:prstGeom>
          <a:ln w="10160">
            <a:solidFill>
              <a:srgbClr val="D6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20040" y="3035808"/>
            <a:ext cx="31089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5B6670"/>
                </a:solidFill>
                <a:latin typeface="Arial"/>
              </a:rPr>
              <a:t>2  TWO WAYS TO RECONSTRUCT HIDDEN GROUPS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8912" y="3520440"/>
            <a:ext cx="868680" cy="676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5216" y="3721608"/>
            <a:ext cx="590702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5216" y="3877056"/>
            <a:ext cx="712317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5216" y="4032504"/>
            <a:ext cx="486460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960119" y="3675888"/>
            <a:ext cx="164592" cy="164592"/>
          </a:xfrm>
          <a:prstGeom prst="diamond">
            <a:avLst/>
          </a:prstGeom>
          <a:solidFill>
            <a:srgbClr val="FBF2DF"/>
          </a:solidFill>
          <a:ln w="1143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94360" y="3639312"/>
            <a:ext cx="868680" cy="676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0664" y="3840480"/>
            <a:ext cx="590702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0664" y="3995928"/>
            <a:ext cx="712317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0664" y="4151376"/>
            <a:ext cx="486460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iamond 68"/>
          <p:cNvSpPr/>
          <p:nvPr/>
        </p:nvSpPr>
        <p:spPr>
          <a:xfrm>
            <a:off x="1115568" y="3794760"/>
            <a:ext cx="164592" cy="164592"/>
          </a:xfrm>
          <a:prstGeom prst="diamond">
            <a:avLst/>
          </a:prstGeom>
          <a:solidFill>
            <a:srgbClr val="FBF2DF"/>
          </a:solidFill>
          <a:ln w="1143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49808" y="3758184"/>
            <a:ext cx="868680" cy="676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6112" y="3959352"/>
            <a:ext cx="590702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6112" y="4114800"/>
            <a:ext cx="712317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6112" y="4270248"/>
            <a:ext cx="486460" cy="50292"/>
          </a:xfrm>
          <a:prstGeom prst="rect">
            <a:avLst/>
          </a:prstGeom>
          <a:solidFill>
            <a:srgbClr val="D6DCE2"/>
          </a:solidFill>
          <a:ln w="381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iamond 73"/>
          <p:cNvSpPr/>
          <p:nvPr/>
        </p:nvSpPr>
        <p:spPr>
          <a:xfrm>
            <a:off x="1271016" y="3913632"/>
            <a:ext cx="164592" cy="164592"/>
          </a:xfrm>
          <a:prstGeom prst="diamond">
            <a:avLst/>
          </a:prstGeom>
          <a:solidFill>
            <a:srgbClr val="FBF2DF"/>
          </a:solidFill>
          <a:ln w="1143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" y="4297680"/>
            <a:ext cx="1316736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50" b="1">
                <a:solidFill>
                  <a:srgbClr val="5B6670"/>
                </a:solidFill>
                <a:latin typeface="Arial"/>
              </a:rPr>
              <a:t>visible evidence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517904" y="3959352"/>
            <a:ext cx="329184" cy="0"/>
          </a:xfrm>
          <a:prstGeom prst="line">
            <a:avLst/>
          </a:prstGeom>
          <a:ln w="17780">
            <a:solidFill>
              <a:srgbClr val="5B66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1874519" y="3438144"/>
            <a:ext cx="941832" cy="566928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17212B"/>
                </a:solidFill>
                <a:latin typeface="Arial"/>
              </a:rPr>
              <a:t>CARP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017520" y="3383280"/>
            <a:ext cx="1481328" cy="685800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63239" y="3438144"/>
            <a:ext cx="1389888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Block &amp; index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63239" y="3694176"/>
            <a:ext cx="1389888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5B6670"/>
                </a:solidFill>
                <a:latin typeface="Arial"/>
              </a:rPr>
              <a:t>find likely pairs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91456" y="3383280"/>
            <a:ext cx="1481328" cy="685800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37176" y="3438144"/>
            <a:ext cx="1389888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Refine candidates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37176" y="3694176"/>
            <a:ext cx="1389888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5B6670"/>
                </a:solidFill>
                <a:latin typeface="Arial"/>
              </a:rPr>
              <a:t>verify continuity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565392" y="3383280"/>
            <a:ext cx="1481328" cy="685800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11112" y="3438144"/>
            <a:ext cx="1389888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Propagate handles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11112" y="3694176"/>
            <a:ext cx="1389888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5B6670"/>
                </a:solidFill>
                <a:latin typeface="Arial"/>
              </a:rPr>
              <a:t>connect workflows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825496" y="3730752"/>
            <a:ext cx="155448" cy="0"/>
          </a:xfrm>
          <a:prstGeom prst="line">
            <a:avLst/>
          </a:prstGeom>
          <a:ln w="1524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517136" y="3730752"/>
            <a:ext cx="237744" cy="0"/>
          </a:xfrm>
          <a:prstGeom prst="line">
            <a:avLst/>
          </a:prstGeom>
          <a:ln w="1524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291072" y="3730752"/>
            <a:ext cx="237744" cy="0"/>
          </a:xfrm>
          <a:prstGeom prst="line">
            <a:avLst/>
          </a:prstGeom>
          <a:ln w="1524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1874519" y="4325112"/>
            <a:ext cx="941832" cy="566928"/>
          </a:xfrm>
          <a:prstGeom prst="roundRect">
            <a:avLst/>
          </a:prstGeom>
          <a:solidFill>
            <a:srgbClr val="E8F5F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17212B"/>
                </a:solidFill>
                <a:latin typeface="Arial"/>
              </a:rPr>
              <a:t>ASL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017520" y="4270248"/>
            <a:ext cx="1481328" cy="685800"/>
          </a:xfrm>
          <a:prstGeom prst="roundRect">
            <a:avLst/>
          </a:prstGeom>
          <a:solidFill>
            <a:srgbClr val="E8F5F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63239" y="4325112"/>
            <a:ext cx="1389888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Agent state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3239" y="4581144"/>
            <a:ext cx="1389888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5B6670"/>
                </a:solidFill>
                <a:latin typeface="Arial"/>
              </a:rPr>
              <a:t>track bounded history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791456" y="4270248"/>
            <a:ext cx="1481328" cy="685800"/>
          </a:xfrm>
          <a:prstGeom prst="roundRect">
            <a:avLst/>
          </a:prstGeom>
          <a:solidFill>
            <a:srgbClr val="E8F5F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37176" y="4325112"/>
            <a:ext cx="1389888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Support vs conflict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37176" y="4581144"/>
            <a:ext cx="1389888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5B6670"/>
                </a:solidFill>
                <a:latin typeface="Arial"/>
              </a:rPr>
              <a:t>weigh evidence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65392" y="4270248"/>
            <a:ext cx="1481328" cy="685800"/>
          </a:xfrm>
          <a:prstGeom prst="roundRect">
            <a:avLst/>
          </a:prstGeom>
          <a:solidFill>
            <a:srgbClr val="E8F5F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11112" y="4325112"/>
            <a:ext cx="1389888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Selective hierarchy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11112" y="4581144"/>
            <a:ext cx="1389888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50" b="0">
                <a:solidFill>
                  <a:srgbClr val="5B6670"/>
                </a:solidFill>
                <a:latin typeface="Arial"/>
              </a:rPr>
              <a:t>link or abstain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2825496" y="4617720"/>
            <a:ext cx="155448" cy="0"/>
          </a:xfrm>
          <a:prstGeom prst="line">
            <a:avLst/>
          </a:prstGeom>
          <a:ln w="15240">
            <a:solidFill>
              <a:srgbClr val="2A9D8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517136" y="4617720"/>
            <a:ext cx="237744" cy="0"/>
          </a:xfrm>
          <a:prstGeom prst="line">
            <a:avLst/>
          </a:prstGeom>
          <a:ln w="15240">
            <a:solidFill>
              <a:srgbClr val="2A9D8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291072" y="4617720"/>
            <a:ext cx="237744" cy="0"/>
          </a:xfrm>
          <a:prstGeom prst="line">
            <a:avLst/>
          </a:prstGeom>
          <a:ln w="15240">
            <a:solidFill>
              <a:srgbClr val="2A9D8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083296" y="3730752"/>
            <a:ext cx="329184" cy="219456"/>
          </a:xfrm>
          <a:prstGeom prst="line">
            <a:avLst/>
          </a:prstGeom>
          <a:ln w="1524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083296" y="4224528"/>
            <a:ext cx="329184" cy="393192"/>
          </a:xfrm>
          <a:prstGeom prst="line">
            <a:avLst/>
          </a:prstGeom>
          <a:ln w="15240">
            <a:solidFill>
              <a:srgbClr val="2A9D8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8430768" y="3547872"/>
            <a:ext cx="960120" cy="7498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595360" y="3730752"/>
            <a:ext cx="146304" cy="146304"/>
          </a:xfrm>
          <a:prstGeom prst="ellipse">
            <a:avLst/>
          </a:prstGeom>
          <a:solidFill>
            <a:srgbClr val="EAF3FA"/>
          </a:solidFill>
          <a:ln w="1270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851392" y="3657600"/>
            <a:ext cx="146304" cy="146304"/>
          </a:xfrm>
          <a:prstGeom prst="ellipse">
            <a:avLst/>
          </a:prstGeom>
          <a:solidFill>
            <a:srgbClr val="EAF3FA"/>
          </a:solidFill>
          <a:ln w="1270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043416" y="3895344"/>
            <a:ext cx="146304" cy="146304"/>
          </a:xfrm>
          <a:prstGeom prst="ellipse">
            <a:avLst/>
          </a:prstGeom>
          <a:solidFill>
            <a:srgbClr val="EAF3FA"/>
          </a:solidFill>
          <a:ln w="1270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491472" y="4133087"/>
            <a:ext cx="960120" cy="7498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iamond 109"/>
          <p:cNvSpPr/>
          <p:nvPr/>
        </p:nvSpPr>
        <p:spPr>
          <a:xfrm>
            <a:off x="9656064" y="4315968"/>
            <a:ext cx="146304" cy="146304"/>
          </a:xfrm>
          <a:prstGeom prst="diamond">
            <a:avLst/>
          </a:prstGeom>
          <a:solidFill>
            <a:srgbClr val="E8F5F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iamond 110"/>
          <p:cNvSpPr/>
          <p:nvPr/>
        </p:nvSpPr>
        <p:spPr>
          <a:xfrm>
            <a:off x="9912096" y="4242816"/>
            <a:ext cx="146304" cy="146304"/>
          </a:xfrm>
          <a:prstGeom prst="diamond">
            <a:avLst/>
          </a:prstGeom>
          <a:solidFill>
            <a:srgbClr val="E8F5F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iamond 111"/>
          <p:cNvSpPr/>
          <p:nvPr/>
        </p:nvSpPr>
        <p:spPr>
          <a:xfrm>
            <a:off x="10104120" y="4480559"/>
            <a:ext cx="146304" cy="146304"/>
          </a:xfrm>
          <a:prstGeom prst="diamond">
            <a:avLst/>
          </a:prstGeom>
          <a:solidFill>
            <a:srgbClr val="E8F5F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58200" y="4873752"/>
            <a:ext cx="2084831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rial"/>
              </a:rPr>
              <a:t>Recovered workflows and entities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0469880" y="4160520"/>
            <a:ext cx="164592" cy="0"/>
          </a:xfrm>
          <a:prstGeom prst="line">
            <a:avLst/>
          </a:prstGeom>
          <a:ln w="15240">
            <a:solidFill>
              <a:srgbClr val="5B667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10671048" y="3529584"/>
            <a:ext cx="1042415" cy="1243584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17212B"/>
                </a:solidFill>
                <a:latin typeface="Arial"/>
              </a:rPr>
              <a:t>Avoid all-pairs
reject weak links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320040" y="5230368"/>
            <a:ext cx="11548872" cy="0"/>
          </a:xfrm>
          <a:prstGeom prst="line">
            <a:avLst/>
          </a:prstGeom>
          <a:ln w="10160">
            <a:solidFill>
              <a:srgbClr val="D6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320040" y="5340096"/>
            <a:ext cx="274320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5B6670"/>
                </a:solidFill>
                <a:latin typeface="Arial"/>
              </a:rPr>
              <a:t>3  WHAT EACH SIGNAL REVEALS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38912" y="5669280"/>
            <a:ext cx="1408176" cy="548640"/>
          </a:xfrm>
          <a:prstGeom prst="roundRect">
            <a:avLst/>
          </a:prstGeom>
          <a:solidFill>
            <a:srgbClr val="F9EAEA"/>
          </a:solidFill>
          <a:ln w="15240">
            <a:solidFill>
              <a:srgbClr val="C6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Direct exposure
read fields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84248" y="5669280"/>
            <a:ext cx="1572768" cy="548640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Continuity
group one task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94176" y="5669280"/>
            <a:ext cx="1828800" cy="548640"/>
          </a:xfrm>
          <a:prstGeom prst="roundRect">
            <a:avLst/>
          </a:prstGeom>
          <a:solidFill>
            <a:srgbClr val="FBF2D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7212B"/>
                </a:solidFill>
                <a:latin typeface="Arial"/>
              </a:rPr>
              <a:t>Propagation
connect later tasks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5577840" y="5943600"/>
            <a:ext cx="438912" cy="0"/>
          </a:xfrm>
          <a:prstGeom prst="line">
            <a:avLst/>
          </a:prstGeom>
          <a:ln w="15240">
            <a:solidFill>
              <a:srgbClr val="5B66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6080760" y="58521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245352" y="5934456"/>
            <a:ext cx="155448" cy="0"/>
          </a:xfrm>
          <a:prstGeom prst="line">
            <a:avLst/>
          </a:prstGeom>
          <a:ln w="1143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19088" y="58521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6583680" y="5934456"/>
            <a:ext cx="155448" cy="0"/>
          </a:xfrm>
          <a:prstGeom prst="line">
            <a:avLst/>
          </a:prstGeom>
          <a:ln w="1143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6757416" y="58521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6995160" y="5934456"/>
            <a:ext cx="356615" cy="0"/>
          </a:xfrm>
          <a:prstGeom prst="line">
            <a:avLst/>
          </a:prstGeom>
          <a:ln w="15240">
            <a:solidFill>
              <a:srgbClr val="2878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Hexagon 127"/>
          <p:cNvSpPr/>
          <p:nvPr/>
        </p:nvSpPr>
        <p:spPr>
          <a:xfrm>
            <a:off x="7388352" y="5596128"/>
            <a:ext cx="694944" cy="694944"/>
          </a:xfrm>
          <a:prstGeom prst="hexagon">
            <a:avLst/>
          </a:prstGeom>
          <a:solidFill>
            <a:srgbClr val="FBF2D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iamond 128"/>
          <p:cNvSpPr/>
          <p:nvPr/>
        </p:nvSpPr>
        <p:spPr>
          <a:xfrm>
            <a:off x="7626096" y="5833872"/>
            <a:ext cx="219456" cy="219456"/>
          </a:xfrm>
          <a:prstGeom prst="diamond">
            <a:avLst/>
          </a:prstGeom>
          <a:solidFill>
            <a:srgbClr val="FFFFF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42048" y="6318504"/>
            <a:ext cx="100584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50" b="1">
                <a:solidFill>
                  <a:srgbClr val="D99B2B"/>
                </a:solidFill>
                <a:latin typeface="Arial"/>
              </a:rPr>
              <a:t>same project / customer</a:t>
            </a:r>
          </a:p>
        </p:txBody>
      </p:sp>
      <p:cxnSp>
        <p:nvCxnSpPr>
          <p:cNvPr id="131" name="Connector 130"/>
          <p:cNvCxnSpPr/>
          <p:nvPr/>
        </p:nvCxnSpPr>
        <p:spPr>
          <a:xfrm flipV="1">
            <a:off x="8110727" y="5577840"/>
            <a:ext cx="320041" cy="219456"/>
          </a:xfrm>
          <a:prstGeom prst="line">
            <a:avLst/>
          </a:prstGeom>
          <a:ln w="15240">
            <a:solidFill>
              <a:srgbClr val="D99B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110727" y="6080760"/>
            <a:ext cx="320041" cy="210312"/>
          </a:xfrm>
          <a:prstGeom prst="line">
            <a:avLst/>
          </a:prstGeom>
          <a:ln w="15240">
            <a:solidFill>
              <a:srgbClr val="D99B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8467344" y="5449824"/>
            <a:ext cx="1115568" cy="502920"/>
          </a:xfrm>
          <a:prstGeom prst="roundRect">
            <a:avLst/>
          </a:prstGeom>
          <a:solidFill>
            <a:srgbClr val="E8F5F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17212B"/>
                </a:solidFill>
                <a:latin typeface="Arial"/>
              </a:rPr>
              <a:t>Aggregate
Partial profile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467344" y="6144768"/>
            <a:ext cx="1115568" cy="502920"/>
          </a:xfrm>
          <a:prstGeom prst="roundRect">
            <a:avLst/>
          </a:prstGeom>
          <a:solidFill>
            <a:srgbClr val="F9EAEA"/>
          </a:solidFill>
          <a:ln w="15240">
            <a:solidFill>
              <a:srgbClr val="C6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17212B"/>
                </a:solidFill>
                <a:latin typeface="Arial"/>
              </a:rPr>
              <a:t>Recognize later
Watchlist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9628632" y="5934456"/>
            <a:ext cx="310896" cy="0"/>
          </a:xfrm>
          <a:prstGeom prst="line">
            <a:avLst/>
          </a:prstGeom>
          <a:ln w="15240">
            <a:solidFill>
              <a:srgbClr val="5B66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/>
          <p:cNvSpPr/>
          <p:nvPr/>
        </p:nvSpPr>
        <p:spPr>
          <a:xfrm>
            <a:off x="9976104" y="5559552"/>
            <a:ext cx="1737360" cy="768096"/>
          </a:xfrm>
          <a:prstGeom prst="roundRect">
            <a:avLst/>
          </a:prstGeom>
          <a:solidFill>
            <a:srgbClr val="FBF2DF"/>
          </a:solidFill>
          <a:ln w="15240">
            <a:solidFill>
              <a:srgbClr val="D99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50" b="1">
                <a:solidFill>
                  <a:srgbClr val="17212B"/>
                </a:solidFill>
                <a:latin typeface="Arial"/>
              </a:rPr>
              <a:t>New requests join
the earlier component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